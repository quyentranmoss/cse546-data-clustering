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41ECF01-DFC0-CCEC-4633-89ADBCDC671F}" v="1142" dt="2025-11-13T04:56:57.62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11/12/2025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11/12/2025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11/12/2025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11/12/2025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11/12/2025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HW 6 CSE 546</a:t>
            </a:r>
          </a:p>
        </p:txBody>
      </p:sp>
      <p:sp>
        <p:nvSpPr>
          <p:cNvPr id="3" name="Subtitle 2"/>
          <p:cNvSpPr>
            <a:spLocks noGrp="1"/>
          </p:cNvSpPr>
          <p:nvPr>
            <p:ph type="subTitle" idx="1"/>
          </p:nvPr>
        </p:nvSpPr>
        <p:spPr/>
        <p:txBody>
          <a:bodyPr vert="horz" lIns="91440" tIns="45720" rIns="91440" bIns="45720" rtlCol="0" anchor="t">
            <a:normAutofit/>
          </a:bodyPr>
          <a:lstStyle/>
          <a:p>
            <a:r>
              <a:rPr lang="en-US" dirty="0"/>
              <a:t>Quyen Tran</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5A73EBA-3678-A0AD-DA37-5BF4CFD8225F}"/>
              </a:ext>
            </a:extLst>
          </p:cNvPr>
          <p:cNvSpPr>
            <a:spLocks noGrp="1"/>
          </p:cNvSpPr>
          <p:nvPr>
            <p:ph type="title"/>
          </p:nvPr>
        </p:nvSpPr>
        <p:spPr>
          <a:xfrm>
            <a:off x="640080" y="325369"/>
            <a:ext cx="4368602" cy="1956841"/>
          </a:xfrm>
        </p:spPr>
        <p:txBody>
          <a:bodyPr anchor="b">
            <a:normAutofit/>
          </a:bodyPr>
          <a:lstStyle/>
          <a:p>
            <a:r>
              <a:rPr lang="en-US" sz="5400" dirty="0"/>
              <a:t>2D PCA</a:t>
            </a:r>
          </a:p>
        </p:txBody>
      </p:sp>
      <p:sp>
        <p:nvSpPr>
          <p:cNvPr id="13"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7">
            <a:extLst>
              <a:ext uri="{FF2B5EF4-FFF2-40B4-BE49-F238E27FC236}">
                <a16:creationId xmlns:a16="http://schemas.microsoft.com/office/drawing/2014/main" id="{3F77D558-88B3-5170-D174-32F2A7883033}"/>
              </a:ext>
            </a:extLst>
          </p:cNvPr>
          <p:cNvSpPr>
            <a:spLocks noGrp="1"/>
          </p:cNvSpPr>
          <p:nvPr>
            <p:ph idx="1"/>
          </p:nvPr>
        </p:nvSpPr>
        <p:spPr>
          <a:xfrm>
            <a:off x="640080" y="2872899"/>
            <a:ext cx="4243589" cy="3320668"/>
          </a:xfrm>
        </p:spPr>
        <p:txBody>
          <a:bodyPr vert="horz" lIns="91440" tIns="45720" rIns="91440" bIns="45720" rtlCol="0" anchor="t">
            <a:normAutofit/>
          </a:bodyPr>
          <a:lstStyle/>
          <a:p>
            <a:r>
              <a:rPr lang="en-US" sz="2200" dirty="0"/>
              <a:t>More overlapping classes, less distinction between each class.</a:t>
            </a:r>
            <a:endParaRPr lang="en-US"/>
          </a:p>
          <a:p>
            <a:r>
              <a:rPr lang="en-US" sz="2200" dirty="0"/>
              <a:t>PCA finds the plane class similar to the car class and the ship class.</a:t>
            </a:r>
          </a:p>
          <a:p>
            <a:pPr marL="0" indent="0">
              <a:buNone/>
            </a:pPr>
            <a:endParaRPr lang="en-US" sz="2200" dirty="0"/>
          </a:p>
        </p:txBody>
      </p:sp>
      <p:pic>
        <p:nvPicPr>
          <p:cNvPr id="6" name="Picture 5" descr="A diagram of different colored dots&#10;&#10;AI-generated content may be incorrect.">
            <a:extLst>
              <a:ext uri="{FF2B5EF4-FFF2-40B4-BE49-F238E27FC236}">
                <a16:creationId xmlns:a16="http://schemas.microsoft.com/office/drawing/2014/main" id="{6BCF1562-A82B-8585-D298-0A60FBD2219F}"/>
              </a:ext>
            </a:extLst>
          </p:cNvPr>
          <p:cNvPicPr>
            <a:picLocks noChangeAspect="1"/>
          </p:cNvPicPr>
          <p:nvPr/>
        </p:nvPicPr>
        <p:blipFill>
          <a:blip r:embed="rId2"/>
          <a:stretch>
            <a:fillRect/>
          </a:stretch>
        </p:blipFill>
        <p:spPr>
          <a:xfrm>
            <a:off x="5009547" y="833438"/>
            <a:ext cx="6648450" cy="5191125"/>
          </a:xfrm>
          <a:prstGeom prst="rect">
            <a:avLst/>
          </a:prstGeom>
        </p:spPr>
      </p:pic>
    </p:spTree>
    <p:extLst>
      <p:ext uri="{BB962C8B-B14F-4D97-AF65-F5344CB8AC3E}">
        <p14:creationId xmlns:p14="http://schemas.microsoft.com/office/powerpoint/2010/main" val="20952127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A8EDE4-79B8-643C-610B-B31D9F494E8B}"/>
              </a:ext>
            </a:extLst>
          </p:cNvPr>
          <p:cNvSpPr>
            <a:spLocks noGrp="1"/>
          </p:cNvSpPr>
          <p:nvPr>
            <p:ph type="title"/>
          </p:nvPr>
        </p:nvSpPr>
        <p:spPr>
          <a:xfrm>
            <a:off x="640080" y="325369"/>
            <a:ext cx="4368602" cy="1956841"/>
          </a:xfrm>
        </p:spPr>
        <p:txBody>
          <a:bodyPr anchor="b">
            <a:normAutofit/>
          </a:bodyPr>
          <a:lstStyle/>
          <a:p>
            <a:r>
              <a:rPr lang="en-US" sz="5400" dirty="0"/>
              <a:t>2D T-SNE</a:t>
            </a:r>
          </a:p>
        </p:txBody>
      </p:sp>
      <p:sp>
        <p:nvSpPr>
          <p:cNvPr id="13"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7">
            <a:extLst>
              <a:ext uri="{FF2B5EF4-FFF2-40B4-BE49-F238E27FC236}">
                <a16:creationId xmlns:a16="http://schemas.microsoft.com/office/drawing/2014/main" id="{6E8A1F70-09EA-0322-6871-E8D5538FA141}"/>
              </a:ext>
            </a:extLst>
          </p:cNvPr>
          <p:cNvSpPr>
            <a:spLocks noGrp="1"/>
          </p:cNvSpPr>
          <p:nvPr>
            <p:ph idx="1"/>
          </p:nvPr>
        </p:nvSpPr>
        <p:spPr>
          <a:xfrm>
            <a:off x="640080" y="2872899"/>
            <a:ext cx="4243589" cy="3320668"/>
          </a:xfrm>
        </p:spPr>
        <p:txBody>
          <a:bodyPr vert="horz" lIns="91440" tIns="45720" rIns="91440" bIns="45720" rtlCol="0" anchor="t">
            <a:normAutofit/>
          </a:bodyPr>
          <a:lstStyle/>
          <a:p>
            <a:r>
              <a:rPr lang="en-US" sz="2200" dirty="0"/>
              <a:t>More distinction between each class, farther space from each other</a:t>
            </a:r>
          </a:p>
        </p:txBody>
      </p:sp>
      <p:pic>
        <p:nvPicPr>
          <p:cNvPr id="4" name="Content Placeholder 3" descr="A diagram of different colored circles&#10;&#10;AI-generated content may be incorrect.">
            <a:extLst>
              <a:ext uri="{FF2B5EF4-FFF2-40B4-BE49-F238E27FC236}">
                <a16:creationId xmlns:a16="http://schemas.microsoft.com/office/drawing/2014/main" id="{07DD325C-4CF5-F09A-155A-D93CAE2FA9EC}"/>
              </a:ext>
            </a:extLst>
          </p:cNvPr>
          <p:cNvPicPr>
            <a:picLocks noChangeAspect="1"/>
          </p:cNvPicPr>
          <p:nvPr/>
        </p:nvPicPr>
        <p:blipFill>
          <a:blip r:embed="rId2"/>
          <a:srcRect l="6236" r="15529" b="1"/>
          <a:stretch>
            <a:fillRect/>
          </a:stretch>
        </p:blipFill>
        <p:spPr>
          <a:xfrm>
            <a:off x="5523905" y="704137"/>
            <a:ext cx="6049256" cy="5845205"/>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21693998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95B1FC96-0749-41C9-BAED-E089E77149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7A4C581-B581-FB91-D2FC-303525C189F2}"/>
              </a:ext>
            </a:extLst>
          </p:cNvPr>
          <p:cNvSpPr>
            <a:spLocks noGrp="1"/>
          </p:cNvSpPr>
          <p:nvPr>
            <p:ph type="title"/>
          </p:nvPr>
        </p:nvSpPr>
        <p:spPr>
          <a:xfrm>
            <a:off x="630936" y="4562856"/>
            <a:ext cx="3419856" cy="1600200"/>
          </a:xfrm>
        </p:spPr>
        <p:txBody>
          <a:bodyPr anchor="ctr">
            <a:normAutofit/>
          </a:bodyPr>
          <a:lstStyle/>
          <a:p>
            <a:r>
              <a:rPr lang="en-US" sz="4800"/>
              <a:t>PCA versus T-SNE</a:t>
            </a:r>
          </a:p>
        </p:txBody>
      </p:sp>
      <p:pic>
        <p:nvPicPr>
          <p:cNvPr id="5" name="Picture 4" descr="A diagram of different colored dots&#10;&#10;AI-generated content may be incorrect.">
            <a:extLst>
              <a:ext uri="{FF2B5EF4-FFF2-40B4-BE49-F238E27FC236}">
                <a16:creationId xmlns:a16="http://schemas.microsoft.com/office/drawing/2014/main" id="{8BC4EC86-69EE-FD24-613C-ABF667B13F88}"/>
              </a:ext>
            </a:extLst>
          </p:cNvPr>
          <p:cNvPicPr>
            <a:picLocks noChangeAspect="1"/>
          </p:cNvPicPr>
          <p:nvPr/>
        </p:nvPicPr>
        <p:blipFill>
          <a:blip r:embed="rId2"/>
          <a:srcRect t="6356" b="5392"/>
          <a:stretch>
            <a:fillRect/>
          </a:stretch>
        </p:blipFill>
        <p:spPr>
          <a:xfrm>
            <a:off x="5" y="10"/>
            <a:ext cx="6095995" cy="4196271"/>
          </a:xfrm>
          <a:custGeom>
            <a:avLst/>
            <a:gdLst/>
            <a:ahLst/>
            <a:cxnLst/>
            <a:rect l="l" t="t" r="r" b="b"/>
            <a:pathLst>
              <a:path w="6005375" h="4196281">
                <a:moveTo>
                  <a:pt x="0" y="0"/>
                </a:moveTo>
                <a:lnTo>
                  <a:pt x="6000672" y="0"/>
                </a:lnTo>
                <a:lnTo>
                  <a:pt x="5998730" y="19709"/>
                </a:lnTo>
                <a:cubicBezTo>
                  <a:pt x="6001245" y="280059"/>
                  <a:pt x="5986415" y="540409"/>
                  <a:pt x="5999656" y="800631"/>
                </a:cubicBezTo>
                <a:cubicBezTo>
                  <a:pt x="6009855" y="1001996"/>
                  <a:pt x="6003364" y="1203233"/>
                  <a:pt x="5999656" y="1404471"/>
                </a:cubicBezTo>
                <a:cubicBezTo>
                  <a:pt x="5992506" y="1790420"/>
                  <a:pt x="6003364" y="2175860"/>
                  <a:pt x="5998730" y="2561300"/>
                </a:cubicBezTo>
                <a:cubicBezTo>
                  <a:pt x="5996744" y="2732154"/>
                  <a:pt x="5998994" y="2902754"/>
                  <a:pt x="6003364" y="3073609"/>
                </a:cubicBezTo>
                <a:cubicBezTo>
                  <a:pt x="6009720" y="3317560"/>
                  <a:pt x="5999923" y="3561638"/>
                  <a:pt x="5989197" y="3805463"/>
                </a:cubicBezTo>
                <a:cubicBezTo>
                  <a:pt x="5985594" y="3872508"/>
                  <a:pt x="5984647" y="3939633"/>
                  <a:pt x="5986348" y="4006695"/>
                </a:cubicBezTo>
                <a:lnTo>
                  <a:pt x="5997254" y="4174633"/>
                </a:lnTo>
                <a:lnTo>
                  <a:pt x="5951601" y="4176620"/>
                </a:lnTo>
                <a:cubicBezTo>
                  <a:pt x="5886702" y="4176651"/>
                  <a:pt x="5821788" y="4174749"/>
                  <a:pt x="5756905" y="4173480"/>
                </a:cubicBezTo>
                <a:cubicBezTo>
                  <a:pt x="5518559" y="4169040"/>
                  <a:pt x="5280086" y="4173480"/>
                  <a:pt x="5042247" y="4150774"/>
                </a:cubicBezTo>
                <a:cubicBezTo>
                  <a:pt x="4977618" y="4144622"/>
                  <a:pt x="4912546" y="4140690"/>
                  <a:pt x="4847600" y="4141467"/>
                </a:cubicBezTo>
                <a:cubicBezTo>
                  <a:pt x="4782655" y="4142244"/>
                  <a:pt x="4717835" y="4147730"/>
                  <a:pt x="4653713" y="4160414"/>
                </a:cubicBezTo>
                <a:cubicBezTo>
                  <a:pt x="4446571" y="4200625"/>
                  <a:pt x="4238796" y="4203162"/>
                  <a:pt x="4029497" y="4186925"/>
                </a:cubicBezTo>
                <a:cubicBezTo>
                  <a:pt x="3943621" y="4180203"/>
                  <a:pt x="3857746" y="4169040"/>
                  <a:pt x="3771489" y="4171196"/>
                </a:cubicBezTo>
                <a:cubicBezTo>
                  <a:pt x="3623585" y="4175129"/>
                  <a:pt x="3475554" y="4167137"/>
                  <a:pt x="3327523" y="4169167"/>
                </a:cubicBezTo>
                <a:cubicBezTo>
                  <a:pt x="3323528" y="4169738"/>
                  <a:pt x="3319443" y="4169205"/>
                  <a:pt x="3315727" y="4167645"/>
                </a:cubicBezTo>
                <a:cubicBezTo>
                  <a:pt x="3278941" y="4142402"/>
                  <a:pt x="3238603" y="4152169"/>
                  <a:pt x="3200549" y="4158765"/>
                </a:cubicBezTo>
                <a:cubicBezTo>
                  <a:pt x="3074082" y="4180710"/>
                  <a:pt x="2947742" y="4191492"/>
                  <a:pt x="2819246" y="4174494"/>
                </a:cubicBezTo>
                <a:cubicBezTo>
                  <a:pt x="2696546" y="4156698"/>
                  <a:pt x="2572096" y="4154478"/>
                  <a:pt x="2448851" y="4167898"/>
                </a:cubicBezTo>
                <a:cubicBezTo>
                  <a:pt x="2279383" y="4187687"/>
                  <a:pt x="2110549" y="4183501"/>
                  <a:pt x="1941462" y="4167898"/>
                </a:cubicBezTo>
                <a:cubicBezTo>
                  <a:pt x="1872837" y="4161556"/>
                  <a:pt x="1803198" y="4150774"/>
                  <a:pt x="1735208" y="4166630"/>
                </a:cubicBezTo>
                <a:cubicBezTo>
                  <a:pt x="1651489" y="4186038"/>
                  <a:pt x="1568023" y="4179695"/>
                  <a:pt x="1484050" y="4175382"/>
                </a:cubicBezTo>
                <a:cubicBezTo>
                  <a:pt x="1377752" y="4169801"/>
                  <a:pt x="1271708" y="4153692"/>
                  <a:pt x="1165029" y="4166376"/>
                </a:cubicBezTo>
                <a:cubicBezTo>
                  <a:pt x="1115685" y="4172211"/>
                  <a:pt x="1066722" y="4181471"/>
                  <a:pt x="1016744" y="4179061"/>
                </a:cubicBezTo>
                <a:cubicBezTo>
                  <a:pt x="878481" y="4172719"/>
                  <a:pt x="740344" y="4165235"/>
                  <a:pt x="601826" y="4166376"/>
                </a:cubicBezTo>
                <a:cubicBezTo>
                  <a:pt x="543857" y="4166757"/>
                  <a:pt x="486268" y="4168659"/>
                  <a:pt x="428553" y="4172845"/>
                </a:cubicBezTo>
                <a:cubicBezTo>
                  <a:pt x="320859" y="4180710"/>
                  <a:pt x="213546" y="4170055"/>
                  <a:pt x="106234" y="4166249"/>
                </a:cubicBezTo>
                <a:lnTo>
                  <a:pt x="0" y="4171008"/>
                </a:lnTo>
                <a:close/>
              </a:path>
            </a:pathLst>
          </a:custGeom>
        </p:spPr>
      </p:pic>
      <p:pic>
        <p:nvPicPr>
          <p:cNvPr id="7" name="Content Placeholder 3" descr="A diagram of different colored circles&#10;&#10;AI-generated content may be incorrect.">
            <a:extLst>
              <a:ext uri="{FF2B5EF4-FFF2-40B4-BE49-F238E27FC236}">
                <a16:creationId xmlns:a16="http://schemas.microsoft.com/office/drawing/2014/main" id="{ECDC12A5-B55D-0F28-FD00-8AFF153D5564}"/>
              </a:ext>
            </a:extLst>
          </p:cNvPr>
          <p:cNvPicPr>
            <a:picLocks noChangeAspect="1"/>
          </p:cNvPicPr>
          <p:nvPr/>
        </p:nvPicPr>
        <p:blipFill>
          <a:blip r:embed="rId3"/>
          <a:srcRect t="4265" r="-3" b="8749"/>
          <a:stretch>
            <a:fillRect/>
          </a:stretch>
        </p:blipFill>
        <p:spPr>
          <a:xfrm>
            <a:off x="6019800" y="10"/>
            <a:ext cx="6172195" cy="4187662"/>
          </a:xfrm>
          <a:custGeom>
            <a:avLst/>
            <a:gdLst/>
            <a:ahLst/>
            <a:cxnLst/>
            <a:rect l="l" t="t" r="r" b="b"/>
            <a:pathLst>
              <a:path w="6006950" h="4187672">
                <a:moveTo>
                  <a:pt x="9223" y="0"/>
                </a:moveTo>
                <a:lnTo>
                  <a:pt x="6006950" y="0"/>
                </a:lnTo>
                <a:lnTo>
                  <a:pt x="6006950" y="4169490"/>
                </a:lnTo>
                <a:lnTo>
                  <a:pt x="5787907" y="4174448"/>
                </a:lnTo>
                <a:cubicBezTo>
                  <a:pt x="5713866" y="4173475"/>
                  <a:pt x="5639861" y="4169853"/>
                  <a:pt x="5566029" y="4163587"/>
                </a:cubicBezTo>
                <a:cubicBezTo>
                  <a:pt x="5458843" y="4155595"/>
                  <a:pt x="5350768" y="4144559"/>
                  <a:pt x="5244343" y="4164855"/>
                </a:cubicBezTo>
                <a:cubicBezTo>
                  <a:pt x="5127517" y="4187307"/>
                  <a:pt x="5010817" y="4187434"/>
                  <a:pt x="4892977" y="4181726"/>
                </a:cubicBezTo>
                <a:cubicBezTo>
                  <a:pt x="4792260" y="4176906"/>
                  <a:pt x="4691923" y="4151536"/>
                  <a:pt x="4590445" y="4178301"/>
                </a:cubicBezTo>
                <a:cubicBezTo>
                  <a:pt x="4580348" y="4179772"/>
                  <a:pt x="4570061" y="4179341"/>
                  <a:pt x="4560128" y="4177032"/>
                </a:cubicBezTo>
                <a:cubicBezTo>
                  <a:pt x="4449137" y="4161684"/>
                  <a:pt x="4337384" y="4174242"/>
                  <a:pt x="4226013" y="4169929"/>
                </a:cubicBezTo>
                <a:cubicBezTo>
                  <a:pt x="4174640" y="4167899"/>
                  <a:pt x="4122252" y="4169041"/>
                  <a:pt x="4071513" y="4163587"/>
                </a:cubicBezTo>
                <a:cubicBezTo>
                  <a:pt x="3955067" y="4151156"/>
                  <a:pt x="3838874" y="4144559"/>
                  <a:pt x="3723697" y="4173861"/>
                </a:cubicBezTo>
                <a:cubicBezTo>
                  <a:pt x="3690082" y="4181764"/>
                  <a:pt x="3655732" y="4186013"/>
                  <a:pt x="3621204" y="4186546"/>
                </a:cubicBezTo>
                <a:cubicBezTo>
                  <a:pt x="3508437" y="4190605"/>
                  <a:pt x="3396050" y="4182867"/>
                  <a:pt x="3283664" y="4176525"/>
                </a:cubicBezTo>
                <a:cubicBezTo>
                  <a:pt x="3205652" y="4172085"/>
                  <a:pt x="3127768" y="4162445"/>
                  <a:pt x="3049630" y="4170563"/>
                </a:cubicBezTo>
                <a:cubicBezTo>
                  <a:pt x="3004218" y="4175257"/>
                  <a:pt x="2958427" y="4175257"/>
                  <a:pt x="2913015" y="4170563"/>
                </a:cubicBezTo>
                <a:cubicBezTo>
                  <a:pt x="2829321" y="4160758"/>
                  <a:pt x="2744879" y="4158931"/>
                  <a:pt x="2660842" y="4165109"/>
                </a:cubicBezTo>
                <a:cubicBezTo>
                  <a:pt x="2535390" y="4175891"/>
                  <a:pt x="2410065" y="4184897"/>
                  <a:pt x="2284232" y="4167773"/>
                </a:cubicBezTo>
                <a:cubicBezTo>
                  <a:pt x="2212868" y="4156559"/>
                  <a:pt x="2140312" y="4155240"/>
                  <a:pt x="2068592" y="4163840"/>
                </a:cubicBezTo>
                <a:cubicBezTo>
                  <a:pt x="1897729" y="4187814"/>
                  <a:pt x="1726485" y="4180077"/>
                  <a:pt x="1555241" y="4170183"/>
                </a:cubicBezTo>
                <a:cubicBezTo>
                  <a:pt x="1440824" y="4163460"/>
                  <a:pt x="1325901" y="4151156"/>
                  <a:pt x="1211738" y="4167392"/>
                </a:cubicBezTo>
                <a:cubicBezTo>
                  <a:pt x="1066118" y="4187688"/>
                  <a:pt x="920370" y="4180965"/>
                  <a:pt x="774368" y="4175003"/>
                </a:cubicBezTo>
                <a:cubicBezTo>
                  <a:pt x="667182" y="4170563"/>
                  <a:pt x="559869" y="4157117"/>
                  <a:pt x="452430" y="4173734"/>
                </a:cubicBezTo>
                <a:cubicBezTo>
                  <a:pt x="441369" y="4175244"/>
                  <a:pt x="430117" y="4174115"/>
                  <a:pt x="419576" y="4170436"/>
                </a:cubicBezTo>
                <a:cubicBezTo>
                  <a:pt x="378807" y="4157016"/>
                  <a:pt x="335096" y="4155215"/>
                  <a:pt x="293363" y="4165236"/>
                </a:cubicBezTo>
                <a:cubicBezTo>
                  <a:pt x="216367" y="4182106"/>
                  <a:pt x="139497" y="4189463"/>
                  <a:pt x="61105" y="4174115"/>
                </a:cubicBezTo>
                <a:lnTo>
                  <a:pt x="13323" y="4171265"/>
                </a:lnTo>
                <a:lnTo>
                  <a:pt x="28554" y="3843045"/>
                </a:lnTo>
                <a:cubicBezTo>
                  <a:pt x="30457" y="3722610"/>
                  <a:pt x="27412" y="3602256"/>
                  <a:pt x="15626" y="3482187"/>
                </a:cubicBezTo>
                <a:cubicBezTo>
                  <a:pt x="-847" y="3335690"/>
                  <a:pt x="-4304" y="3188124"/>
                  <a:pt x="5296" y="3041068"/>
                </a:cubicBezTo>
                <a:cubicBezTo>
                  <a:pt x="11786" y="2956911"/>
                  <a:pt x="18539" y="2872754"/>
                  <a:pt x="22776" y="2788472"/>
                </a:cubicBezTo>
                <a:cubicBezTo>
                  <a:pt x="28180" y="2668580"/>
                  <a:pt x="25173" y="2548474"/>
                  <a:pt x="13771" y="2428964"/>
                </a:cubicBezTo>
                <a:cubicBezTo>
                  <a:pt x="4237" y="2337829"/>
                  <a:pt x="3177" y="2246070"/>
                  <a:pt x="10593" y="2154757"/>
                </a:cubicBezTo>
                <a:cubicBezTo>
                  <a:pt x="25690" y="1999286"/>
                  <a:pt x="9931" y="1843813"/>
                  <a:pt x="5032" y="1688466"/>
                </a:cubicBezTo>
                <a:cubicBezTo>
                  <a:pt x="-3577" y="1402691"/>
                  <a:pt x="20393" y="1117045"/>
                  <a:pt x="9666" y="831270"/>
                </a:cubicBezTo>
                <a:cubicBezTo>
                  <a:pt x="3841" y="689908"/>
                  <a:pt x="16420" y="548673"/>
                  <a:pt x="9666" y="407311"/>
                </a:cubicBezTo>
                <a:cubicBezTo>
                  <a:pt x="4105" y="306755"/>
                  <a:pt x="397" y="206200"/>
                  <a:pt x="4105" y="105518"/>
                </a:cubicBezTo>
                <a:cubicBezTo>
                  <a:pt x="5164" y="78059"/>
                  <a:pt x="5826" y="50473"/>
                  <a:pt x="9534" y="23396"/>
                </a:cubicBezTo>
                <a:close/>
              </a:path>
            </a:pathLst>
          </a:custGeom>
        </p:spPr>
      </p:pic>
      <p:sp>
        <p:nvSpPr>
          <p:cNvPr id="14" name="sketch line">
            <a:extLst>
              <a:ext uri="{FF2B5EF4-FFF2-40B4-BE49-F238E27FC236}">
                <a16:creationId xmlns:a16="http://schemas.microsoft.com/office/drawing/2014/main" id="{63C1A86C-B1A8-4AEC-B001-595C91716E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589020" y="5404538"/>
            <a:ext cx="1554480" cy="18288"/>
          </a:xfrm>
          <a:custGeom>
            <a:avLst/>
            <a:gdLst>
              <a:gd name="csX0" fmla="*/ 0 w 1554480"/>
              <a:gd name="csY0" fmla="*/ 0 h 18288"/>
              <a:gd name="csX1" fmla="*/ 549250 w 1554480"/>
              <a:gd name="csY1" fmla="*/ 0 h 18288"/>
              <a:gd name="csX2" fmla="*/ 1082954 w 1554480"/>
              <a:gd name="csY2" fmla="*/ 0 h 18288"/>
              <a:gd name="csX3" fmla="*/ 1554480 w 1554480"/>
              <a:gd name="csY3" fmla="*/ 0 h 18288"/>
              <a:gd name="csX4" fmla="*/ 1554480 w 1554480"/>
              <a:gd name="csY4" fmla="*/ 18288 h 18288"/>
              <a:gd name="csX5" fmla="*/ 1067410 w 1554480"/>
              <a:gd name="csY5" fmla="*/ 18288 h 18288"/>
              <a:gd name="csX6" fmla="*/ 549250 w 1554480"/>
              <a:gd name="csY6" fmla="*/ 18288 h 18288"/>
              <a:gd name="csX7" fmla="*/ 0 w 1554480"/>
              <a:gd name="csY7" fmla="*/ 18288 h 18288"/>
              <a:gd name="csX8" fmla="*/ 0 w 1554480"/>
              <a:gd name="csY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745E1B5-6315-AA70-8863-7DA9753CB598}"/>
              </a:ext>
            </a:extLst>
          </p:cNvPr>
          <p:cNvSpPr>
            <a:spLocks noGrp="1"/>
          </p:cNvSpPr>
          <p:nvPr>
            <p:ph idx="1"/>
          </p:nvPr>
        </p:nvSpPr>
        <p:spPr>
          <a:xfrm>
            <a:off x="4654294" y="4562856"/>
            <a:ext cx="6903721" cy="1600200"/>
          </a:xfrm>
        </p:spPr>
        <p:txBody>
          <a:bodyPr anchor="ctr">
            <a:normAutofit/>
          </a:bodyPr>
          <a:lstStyle/>
          <a:p>
            <a:r>
              <a:rPr lang="en-US" sz="2200" dirty="0"/>
              <a:t>T-SNE is better at showing the difference between the classes .</a:t>
            </a:r>
          </a:p>
        </p:txBody>
      </p:sp>
    </p:spTree>
    <p:extLst>
      <p:ext uri="{BB962C8B-B14F-4D97-AF65-F5344CB8AC3E}">
        <p14:creationId xmlns:p14="http://schemas.microsoft.com/office/powerpoint/2010/main" val="33191499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B8D578F-A2D1-C6D4-A884-639177FFDF39}"/>
              </a:ext>
            </a:extLst>
          </p:cNvPr>
          <p:cNvSpPr>
            <a:spLocks noGrp="1"/>
          </p:cNvSpPr>
          <p:nvPr>
            <p:ph type="title"/>
          </p:nvPr>
        </p:nvSpPr>
        <p:spPr>
          <a:xfrm>
            <a:off x="630936" y="639520"/>
            <a:ext cx="3429000" cy="1719072"/>
          </a:xfrm>
        </p:spPr>
        <p:txBody>
          <a:bodyPr anchor="b">
            <a:normAutofit fontScale="90000"/>
          </a:bodyPr>
          <a:lstStyle/>
          <a:p>
            <a:r>
              <a:rPr lang="en-US" sz="5400" dirty="0"/>
              <a:t>Original Data Clustering</a:t>
            </a:r>
          </a:p>
        </p:txBody>
      </p:sp>
      <p:sp>
        <p:nvSpPr>
          <p:cNvPr id="13"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7">
            <a:extLst>
              <a:ext uri="{FF2B5EF4-FFF2-40B4-BE49-F238E27FC236}">
                <a16:creationId xmlns:a16="http://schemas.microsoft.com/office/drawing/2014/main" id="{71498847-33B4-A2DE-1418-6909D6143688}"/>
              </a:ext>
            </a:extLst>
          </p:cNvPr>
          <p:cNvSpPr>
            <a:spLocks noGrp="1"/>
          </p:cNvSpPr>
          <p:nvPr>
            <p:ph idx="1"/>
          </p:nvPr>
        </p:nvSpPr>
        <p:spPr>
          <a:xfrm>
            <a:off x="630936" y="2807208"/>
            <a:ext cx="3429000" cy="3410712"/>
          </a:xfrm>
        </p:spPr>
        <p:txBody>
          <a:bodyPr anchor="t">
            <a:normAutofit/>
          </a:bodyPr>
          <a:lstStyle/>
          <a:p>
            <a:r>
              <a:rPr lang="en-US" sz="2200" dirty="0"/>
              <a:t>K= 5 as optimal parameter because when k&gt; 5, the graph starts to flatten out and too big of a k can lead to too complex of a model for not much gain, which is a bad trade off.</a:t>
            </a:r>
          </a:p>
        </p:txBody>
      </p:sp>
      <p:pic>
        <p:nvPicPr>
          <p:cNvPr id="4" name="Content Placeholder 3" descr="A graph of a number of clusters&#10;&#10;AI-generated content may be incorrect.">
            <a:extLst>
              <a:ext uri="{FF2B5EF4-FFF2-40B4-BE49-F238E27FC236}">
                <a16:creationId xmlns:a16="http://schemas.microsoft.com/office/drawing/2014/main" id="{617C139B-6155-0194-8825-3984A147479C}"/>
              </a:ext>
            </a:extLst>
          </p:cNvPr>
          <p:cNvPicPr>
            <a:picLocks noChangeAspect="1"/>
          </p:cNvPicPr>
          <p:nvPr/>
        </p:nvPicPr>
        <p:blipFill>
          <a:blip r:embed="rId2"/>
          <a:stretch>
            <a:fillRect/>
          </a:stretch>
        </p:blipFill>
        <p:spPr>
          <a:xfrm>
            <a:off x="4654296" y="1090365"/>
            <a:ext cx="6903720" cy="4677270"/>
          </a:xfrm>
          <a:prstGeom prst="rect">
            <a:avLst/>
          </a:prstGeom>
        </p:spPr>
      </p:pic>
    </p:spTree>
    <p:extLst>
      <p:ext uri="{BB962C8B-B14F-4D97-AF65-F5344CB8AC3E}">
        <p14:creationId xmlns:p14="http://schemas.microsoft.com/office/powerpoint/2010/main" val="34678494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E3250EA-1C7C-7322-BD7E-DB590E1A8EDE}"/>
              </a:ext>
            </a:extLst>
          </p:cNvPr>
          <p:cNvSpPr>
            <a:spLocks noGrp="1"/>
          </p:cNvSpPr>
          <p:nvPr>
            <p:ph type="title"/>
          </p:nvPr>
        </p:nvSpPr>
        <p:spPr>
          <a:xfrm>
            <a:off x="640581" y="639520"/>
            <a:ext cx="4017380" cy="1719072"/>
          </a:xfrm>
        </p:spPr>
        <p:txBody>
          <a:bodyPr anchor="b">
            <a:normAutofit fontScale="90000"/>
          </a:bodyPr>
          <a:lstStyle/>
          <a:p>
            <a:r>
              <a:rPr lang="en-US" sz="5400" dirty="0">
                <a:ea typeface="+mj-lt"/>
                <a:cs typeface="+mj-lt"/>
              </a:rPr>
              <a:t>Original Data Silhouette plot</a:t>
            </a:r>
            <a:endParaRPr lang="en-US" sz="5400" dirty="0"/>
          </a:p>
        </p:txBody>
      </p:sp>
      <p:sp>
        <p:nvSpPr>
          <p:cNvPr id="26" name="sketch line">
            <a:extLst>
              <a:ext uri="{FF2B5EF4-FFF2-40B4-BE49-F238E27FC236}">
                <a16:creationId xmlns:a16="http://schemas.microsoft.com/office/drawing/2014/main" id="{6357EC4F-235E-4222-A36F-C7878ACE37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Content Placeholder 7">
            <a:extLst>
              <a:ext uri="{FF2B5EF4-FFF2-40B4-BE49-F238E27FC236}">
                <a16:creationId xmlns:a16="http://schemas.microsoft.com/office/drawing/2014/main" id="{9A3B3EAD-3EFD-ED9D-B7D2-10F2D30D188C}"/>
              </a:ext>
            </a:extLst>
          </p:cNvPr>
          <p:cNvSpPr>
            <a:spLocks noGrp="1"/>
          </p:cNvSpPr>
          <p:nvPr>
            <p:ph idx="1"/>
          </p:nvPr>
        </p:nvSpPr>
        <p:spPr>
          <a:xfrm>
            <a:off x="630936" y="2807208"/>
            <a:ext cx="3429000" cy="3410712"/>
          </a:xfrm>
        </p:spPr>
        <p:txBody>
          <a:bodyPr anchor="t">
            <a:normAutofit/>
          </a:bodyPr>
          <a:lstStyle/>
          <a:p>
            <a:r>
              <a:rPr lang="en-US" sz="2200" dirty="0"/>
              <a:t>Here, you can see that a lot of values are close to 0 and there are some negative values, meaning samples lie on the border or they may be assigned to the wrong class (if negative).</a:t>
            </a:r>
          </a:p>
        </p:txBody>
      </p:sp>
      <p:pic>
        <p:nvPicPr>
          <p:cNvPr id="4" name="Content Placeholder 3" descr="A graph of different colored shapes&#10;&#10;AI-generated content may be incorrect.">
            <a:extLst>
              <a:ext uri="{FF2B5EF4-FFF2-40B4-BE49-F238E27FC236}">
                <a16:creationId xmlns:a16="http://schemas.microsoft.com/office/drawing/2014/main" id="{734B9366-83FD-24D5-C858-53283EDF6BD7}"/>
              </a:ext>
            </a:extLst>
          </p:cNvPr>
          <p:cNvPicPr>
            <a:picLocks noChangeAspect="1"/>
          </p:cNvPicPr>
          <p:nvPr/>
        </p:nvPicPr>
        <p:blipFill>
          <a:blip r:embed="rId2"/>
          <a:stretch>
            <a:fillRect/>
          </a:stretch>
        </p:blipFill>
        <p:spPr>
          <a:xfrm>
            <a:off x="4654296" y="1262957"/>
            <a:ext cx="6903720" cy="4332085"/>
          </a:xfrm>
          <a:prstGeom prst="rect">
            <a:avLst/>
          </a:prstGeom>
        </p:spPr>
      </p:pic>
    </p:spTree>
    <p:extLst>
      <p:ext uri="{BB962C8B-B14F-4D97-AF65-F5344CB8AC3E}">
        <p14:creationId xmlns:p14="http://schemas.microsoft.com/office/powerpoint/2010/main" val="10726769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215D90B-8F22-A726-B0EA-896281A02918}"/>
            </a:ext>
          </a:extLst>
        </p:cNvPr>
        <p:cNvGrpSpPr/>
        <p:nvPr/>
      </p:nvGrpSpPr>
      <p:grpSpPr>
        <a:xfrm>
          <a:off x="0" y="0"/>
          <a:ext cx="0" cy="0"/>
          <a:chOff x="0" y="0"/>
          <a:chExt cx="0" cy="0"/>
        </a:xfrm>
      </p:grpSpPr>
      <p:sp useBgFill="1">
        <p:nvSpPr>
          <p:cNvPr id="41" name="Rectangle 40">
            <a:extLst>
              <a:ext uri="{FF2B5EF4-FFF2-40B4-BE49-F238E27FC236}">
                <a16:creationId xmlns:a16="http://schemas.microsoft.com/office/drawing/2014/main" id="{352BEC0E-22F8-46D0-9632-375DB541B0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9A42B48-B76B-0CD0-4420-B6956EFD51E4}"/>
              </a:ext>
            </a:extLst>
          </p:cNvPr>
          <p:cNvSpPr>
            <a:spLocks noGrp="1"/>
          </p:cNvSpPr>
          <p:nvPr>
            <p:ph type="title"/>
          </p:nvPr>
        </p:nvSpPr>
        <p:spPr>
          <a:xfrm>
            <a:off x="640080" y="329184"/>
            <a:ext cx="9637776" cy="746760"/>
          </a:xfrm>
        </p:spPr>
        <p:txBody>
          <a:bodyPr anchor="b">
            <a:normAutofit fontScale="90000"/>
          </a:bodyPr>
          <a:lstStyle/>
          <a:p>
            <a:r>
              <a:rPr lang="en-US" sz="5400">
                <a:ea typeface="+mj-lt"/>
                <a:cs typeface="+mj-lt"/>
              </a:rPr>
              <a:t>Core and Boundary Points</a:t>
            </a:r>
            <a:endParaRPr lang="en-US" sz="5400"/>
          </a:p>
        </p:txBody>
      </p:sp>
      <p:sp>
        <p:nvSpPr>
          <p:cNvPr id="42"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8952" y="2395728"/>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Content Placeholder 29">
            <a:extLst>
              <a:ext uri="{FF2B5EF4-FFF2-40B4-BE49-F238E27FC236}">
                <a16:creationId xmlns:a16="http://schemas.microsoft.com/office/drawing/2014/main" id="{D4900E8C-8B20-24C4-DB92-889944E0C51A}"/>
              </a:ext>
            </a:extLst>
          </p:cNvPr>
          <p:cNvSpPr>
            <a:spLocks noGrp="1"/>
          </p:cNvSpPr>
          <p:nvPr>
            <p:ph idx="1"/>
          </p:nvPr>
        </p:nvSpPr>
        <p:spPr>
          <a:xfrm>
            <a:off x="640080" y="2706624"/>
            <a:ext cx="6894576" cy="3483864"/>
          </a:xfrm>
        </p:spPr>
        <p:txBody>
          <a:bodyPr>
            <a:normAutofit/>
          </a:bodyPr>
          <a:lstStyle/>
          <a:p>
            <a:r>
              <a:rPr lang="en-US" sz="2200"/>
              <a:t>Core samples</a:t>
            </a:r>
          </a:p>
        </p:txBody>
      </p:sp>
      <p:pic>
        <p:nvPicPr>
          <p:cNvPr id="8" name="Content Placeholder 7" descr="A collage of images of various vehicles and a horse&#10;&#10;AI-generated content may be incorrect.">
            <a:extLst>
              <a:ext uri="{FF2B5EF4-FFF2-40B4-BE49-F238E27FC236}">
                <a16:creationId xmlns:a16="http://schemas.microsoft.com/office/drawing/2014/main" id="{ED34BBC7-0FE6-9069-8DC5-2F03DEBF403D}"/>
              </a:ext>
            </a:extLst>
          </p:cNvPr>
          <p:cNvPicPr>
            <a:picLocks noChangeAspect="1"/>
          </p:cNvPicPr>
          <p:nvPr/>
        </p:nvPicPr>
        <p:blipFill>
          <a:blip r:embed="rId2"/>
          <a:srcRect l="829" t="1311" r="-3777" b="-2017"/>
          <a:stretch>
            <a:fillRect/>
          </a:stretch>
        </p:blipFill>
        <p:spPr>
          <a:xfrm>
            <a:off x="190703" y="976883"/>
            <a:ext cx="5995010" cy="5883609"/>
          </a:xfrm>
          <a:prstGeom prst="rect">
            <a:avLst/>
          </a:prstGeom>
        </p:spPr>
      </p:pic>
      <p:pic>
        <p:nvPicPr>
          <p:cNvPr id="9" name="Picture 8" descr="A car parked on the road&#10;&#10;AI-generated content may be incorrect.">
            <a:extLst>
              <a:ext uri="{FF2B5EF4-FFF2-40B4-BE49-F238E27FC236}">
                <a16:creationId xmlns:a16="http://schemas.microsoft.com/office/drawing/2014/main" id="{02519CD4-891A-0F72-4B83-F3CF2B523DE6}"/>
              </a:ext>
            </a:extLst>
          </p:cNvPr>
          <p:cNvPicPr>
            <a:picLocks noChangeAspect="1"/>
          </p:cNvPicPr>
          <p:nvPr/>
        </p:nvPicPr>
        <p:blipFill>
          <a:blip r:embed="rId3"/>
          <a:srcRect l="35" r="863"/>
          <a:stretch>
            <a:fillRect/>
          </a:stretch>
        </p:blipFill>
        <p:spPr>
          <a:xfrm>
            <a:off x="6499860" y="2832422"/>
            <a:ext cx="5611368" cy="1728493"/>
          </a:xfrm>
          <a:prstGeom prst="rect">
            <a:avLst/>
          </a:prstGeom>
        </p:spPr>
      </p:pic>
    </p:spTree>
    <p:extLst>
      <p:ext uri="{BB962C8B-B14F-4D97-AF65-F5344CB8AC3E}">
        <p14:creationId xmlns:p14="http://schemas.microsoft.com/office/powerpoint/2010/main" val="11823497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0A874E1-B839-E54D-60AB-EA906272C91B}"/>
            </a:ext>
          </a:extLst>
        </p:cNvPr>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F1C2EA-9438-F728-87FD-8A42E0E63B38}"/>
              </a:ext>
            </a:extLst>
          </p:cNvPr>
          <p:cNvSpPr>
            <a:spLocks noGrp="1"/>
          </p:cNvSpPr>
          <p:nvPr>
            <p:ph type="title"/>
          </p:nvPr>
        </p:nvSpPr>
        <p:spPr>
          <a:xfrm>
            <a:off x="630936" y="639520"/>
            <a:ext cx="3429000" cy="1719072"/>
          </a:xfrm>
        </p:spPr>
        <p:txBody>
          <a:bodyPr anchor="b">
            <a:normAutofit/>
          </a:bodyPr>
          <a:lstStyle/>
          <a:p>
            <a:r>
              <a:rPr lang="en-US" sz="5400" dirty="0"/>
              <a:t>20D PCA Clustering</a:t>
            </a:r>
          </a:p>
        </p:txBody>
      </p:sp>
      <p:sp>
        <p:nvSpPr>
          <p:cNvPr id="40"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Content Placeholder 29">
            <a:extLst>
              <a:ext uri="{FF2B5EF4-FFF2-40B4-BE49-F238E27FC236}">
                <a16:creationId xmlns:a16="http://schemas.microsoft.com/office/drawing/2014/main" id="{7375E6BA-31F0-F2E0-4268-76EA183E1FCA}"/>
              </a:ext>
            </a:extLst>
          </p:cNvPr>
          <p:cNvSpPr>
            <a:spLocks noGrp="1"/>
          </p:cNvSpPr>
          <p:nvPr>
            <p:ph idx="1"/>
          </p:nvPr>
        </p:nvSpPr>
        <p:spPr>
          <a:xfrm>
            <a:off x="630936" y="2807208"/>
            <a:ext cx="3429000" cy="3410712"/>
          </a:xfrm>
        </p:spPr>
        <p:txBody>
          <a:bodyPr anchor="t">
            <a:normAutofit/>
          </a:bodyPr>
          <a:lstStyle/>
          <a:p>
            <a:r>
              <a:rPr lang="en-US" sz="2200" dirty="0"/>
              <a:t>K= 5 as optimal parameter because  when k&gt; 5, the graph starts to flatten out and too big of a k can lead to  too complex of a model for not much gain, which is a bad trade off.</a:t>
            </a:r>
          </a:p>
          <a:p>
            <a:r>
              <a:rPr lang="en-US" sz="2200" dirty="0"/>
              <a:t>Note smaller SSE when PCA is applied</a:t>
            </a:r>
          </a:p>
          <a:p>
            <a:endParaRPr lang="en-US" sz="2200" dirty="0"/>
          </a:p>
        </p:txBody>
      </p:sp>
      <p:pic>
        <p:nvPicPr>
          <p:cNvPr id="7" name="Content Placeholder 6" descr="A graph of a number of clusters&#10;&#10;AI-generated content may be incorrect.">
            <a:extLst>
              <a:ext uri="{FF2B5EF4-FFF2-40B4-BE49-F238E27FC236}">
                <a16:creationId xmlns:a16="http://schemas.microsoft.com/office/drawing/2014/main" id="{B20FD019-1C04-299D-2F4C-941BCBC689B3}"/>
              </a:ext>
            </a:extLst>
          </p:cNvPr>
          <p:cNvPicPr>
            <a:picLocks noChangeAspect="1"/>
          </p:cNvPicPr>
          <p:nvPr/>
        </p:nvPicPr>
        <p:blipFill>
          <a:blip r:embed="rId2"/>
          <a:stretch>
            <a:fillRect/>
          </a:stretch>
        </p:blipFill>
        <p:spPr>
          <a:xfrm>
            <a:off x="4250436" y="1075125"/>
            <a:ext cx="7673340" cy="5142090"/>
          </a:xfrm>
          <a:prstGeom prst="rect">
            <a:avLst/>
          </a:prstGeom>
        </p:spPr>
      </p:pic>
    </p:spTree>
    <p:extLst>
      <p:ext uri="{BB962C8B-B14F-4D97-AF65-F5344CB8AC3E}">
        <p14:creationId xmlns:p14="http://schemas.microsoft.com/office/powerpoint/2010/main" val="19300284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F53DED2-8399-0A0D-6F9C-C67389AA7119}"/>
            </a:ext>
          </a:extLst>
        </p:cNvPr>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5BCBB89C-E8E2-2422-445C-A715B9F4AF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6A2E81B-D3BF-A6AD-CB57-02E7DEF39115}"/>
              </a:ext>
            </a:extLst>
          </p:cNvPr>
          <p:cNvSpPr>
            <a:spLocks noGrp="1"/>
          </p:cNvSpPr>
          <p:nvPr>
            <p:ph type="title"/>
          </p:nvPr>
        </p:nvSpPr>
        <p:spPr>
          <a:xfrm>
            <a:off x="638556" y="639520"/>
            <a:ext cx="4046220" cy="1719072"/>
          </a:xfrm>
        </p:spPr>
        <p:txBody>
          <a:bodyPr anchor="b">
            <a:normAutofit fontScale="90000"/>
          </a:bodyPr>
          <a:lstStyle/>
          <a:p>
            <a:r>
              <a:rPr lang="en-US" sz="5400" dirty="0"/>
              <a:t>20D PCA Silhouette Plot</a:t>
            </a:r>
            <a:endParaRPr lang="en-US" sz="5400" dirty="0" err="1"/>
          </a:p>
        </p:txBody>
      </p:sp>
      <p:sp>
        <p:nvSpPr>
          <p:cNvPr id="40" name="sketch line">
            <a:extLst>
              <a:ext uri="{FF2B5EF4-FFF2-40B4-BE49-F238E27FC236}">
                <a16:creationId xmlns:a16="http://schemas.microsoft.com/office/drawing/2014/main" id="{9FFAD5FE-4AB2-5F33-74B1-EADFB0CDAB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Content Placeholder 2">
            <a:extLst>
              <a:ext uri="{FF2B5EF4-FFF2-40B4-BE49-F238E27FC236}">
                <a16:creationId xmlns:a16="http://schemas.microsoft.com/office/drawing/2014/main" id="{06AAB19B-301B-9BE6-E0CB-07BCA98E4A72}"/>
              </a:ext>
            </a:extLst>
          </p:cNvPr>
          <p:cNvPicPr>
            <a:picLocks noGrp="1" noChangeAspect="1"/>
          </p:cNvPicPr>
          <p:nvPr>
            <p:ph idx="1"/>
          </p:nvPr>
        </p:nvPicPr>
        <p:blipFill>
          <a:blip r:embed="rId2"/>
          <a:stretch>
            <a:fillRect/>
          </a:stretch>
        </p:blipFill>
        <p:spPr>
          <a:xfrm>
            <a:off x="4700016" y="1538683"/>
            <a:ext cx="7383780" cy="4736181"/>
          </a:xfrm>
          <a:prstGeom prst="rect">
            <a:avLst/>
          </a:prstGeom>
        </p:spPr>
      </p:pic>
      <p:sp>
        <p:nvSpPr>
          <p:cNvPr id="5" name="Content Placeholder 7">
            <a:extLst>
              <a:ext uri="{FF2B5EF4-FFF2-40B4-BE49-F238E27FC236}">
                <a16:creationId xmlns:a16="http://schemas.microsoft.com/office/drawing/2014/main" id="{87E964A3-23AB-BE38-83D5-1F83DB2B3AEA}"/>
              </a:ext>
            </a:extLst>
          </p:cNvPr>
          <p:cNvSpPr txBox="1">
            <a:spLocks/>
          </p:cNvSpPr>
          <p:nvPr/>
        </p:nvSpPr>
        <p:spPr>
          <a:xfrm>
            <a:off x="630936" y="2807208"/>
            <a:ext cx="3429000" cy="3410712"/>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200" dirty="0"/>
              <a:t>With PCA, there are less negative samples and the height is shorter near zero, meaning there are less samples close to zero.</a:t>
            </a:r>
          </a:p>
        </p:txBody>
      </p:sp>
    </p:spTree>
    <p:extLst>
      <p:ext uri="{BB962C8B-B14F-4D97-AF65-F5344CB8AC3E}">
        <p14:creationId xmlns:p14="http://schemas.microsoft.com/office/powerpoint/2010/main" val="20117323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E4C332A-535C-0EBB-BCDE-8827E268E1AC}"/>
            </a:ext>
          </a:extLst>
        </p:cNvPr>
        <p:cNvGrpSpPr/>
        <p:nvPr/>
      </p:nvGrpSpPr>
      <p:grpSpPr>
        <a:xfrm>
          <a:off x="0" y="0"/>
          <a:ext cx="0" cy="0"/>
          <a:chOff x="0" y="0"/>
          <a:chExt cx="0" cy="0"/>
        </a:xfrm>
      </p:grpSpPr>
      <p:sp useBgFill="1">
        <p:nvSpPr>
          <p:cNvPr id="47" name="Rectangle 46">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AFC009C-329F-8992-FA31-9D4BA3FE6454}"/>
              </a:ext>
            </a:extLst>
          </p:cNvPr>
          <p:cNvSpPr>
            <a:spLocks noGrp="1"/>
          </p:cNvSpPr>
          <p:nvPr>
            <p:ph type="title"/>
          </p:nvPr>
        </p:nvSpPr>
        <p:spPr>
          <a:xfrm>
            <a:off x="630936" y="639520"/>
            <a:ext cx="3429000" cy="1719072"/>
          </a:xfrm>
        </p:spPr>
        <p:txBody>
          <a:bodyPr anchor="b">
            <a:normAutofit/>
          </a:bodyPr>
          <a:lstStyle/>
          <a:p>
            <a:r>
              <a:rPr lang="en-US" sz="4200" dirty="0"/>
              <a:t>Rand Index Comparison</a:t>
            </a:r>
          </a:p>
        </p:txBody>
      </p:sp>
      <p:sp>
        <p:nvSpPr>
          <p:cNvPr id="49"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Content Placeholder 43">
            <a:extLst>
              <a:ext uri="{FF2B5EF4-FFF2-40B4-BE49-F238E27FC236}">
                <a16:creationId xmlns:a16="http://schemas.microsoft.com/office/drawing/2014/main" id="{A0A32D6B-BA38-25EF-9DB0-27983D0308DB}"/>
              </a:ext>
            </a:extLst>
          </p:cNvPr>
          <p:cNvSpPr>
            <a:spLocks noGrp="1"/>
          </p:cNvSpPr>
          <p:nvPr>
            <p:ph idx="1"/>
          </p:nvPr>
        </p:nvSpPr>
        <p:spPr>
          <a:xfrm>
            <a:off x="630936" y="2807208"/>
            <a:ext cx="3429000" cy="3410712"/>
          </a:xfrm>
        </p:spPr>
        <p:txBody>
          <a:bodyPr anchor="t">
            <a:normAutofit/>
          </a:bodyPr>
          <a:lstStyle/>
          <a:p>
            <a:r>
              <a:rPr lang="en-US" sz="2200" dirty="0"/>
              <a:t>Very Similar ARI</a:t>
            </a:r>
          </a:p>
          <a:p>
            <a:r>
              <a:rPr lang="en-US" sz="2200" dirty="0"/>
              <a:t>Both relatively high ARI score so clustering is not random and align with true </a:t>
            </a:r>
            <a:r>
              <a:rPr lang="en-US" sz="2200" dirty="0" err="1"/>
              <a:t>lables</a:t>
            </a:r>
          </a:p>
        </p:txBody>
      </p:sp>
      <p:pic>
        <p:nvPicPr>
          <p:cNvPr id="6" name="Content Placeholder 5">
            <a:extLst>
              <a:ext uri="{FF2B5EF4-FFF2-40B4-BE49-F238E27FC236}">
                <a16:creationId xmlns:a16="http://schemas.microsoft.com/office/drawing/2014/main" id="{ABC9AB38-176F-8147-8359-57ECB7D96485}"/>
              </a:ext>
            </a:extLst>
          </p:cNvPr>
          <p:cNvPicPr>
            <a:picLocks noChangeAspect="1"/>
          </p:cNvPicPr>
          <p:nvPr/>
        </p:nvPicPr>
        <p:blipFill>
          <a:blip r:embed="rId2"/>
          <a:stretch>
            <a:fillRect/>
          </a:stretch>
        </p:blipFill>
        <p:spPr>
          <a:xfrm>
            <a:off x="4654296" y="1029957"/>
            <a:ext cx="6903720" cy="4798085"/>
          </a:xfrm>
          <a:prstGeom prst="rect">
            <a:avLst/>
          </a:prstGeom>
        </p:spPr>
      </p:pic>
    </p:spTree>
    <p:extLst>
      <p:ext uri="{BB962C8B-B14F-4D97-AF65-F5344CB8AC3E}">
        <p14:creationId xmlns:p14="http://schemas.microsoft.com/office/powerpoint/2010/main" val="30613138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F0087D53-9295-4463-AAE4-D5C626046E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3BDFC79-1311-9B34-98D4-D37DF787E889}"/>
              </a:ext>
            </a:extLst>
          </p:cNvPr>
          <p:cNvSpPr>
            <a:spLocks noGrp="1"/>
          </p:cNvSpPr>
          <p:nvPr>
            <p:ph type="title"/>
          </p:nvPr>
        </p:nvSpPr>
        <p:spPr>
          <a:xfrm>
            <a:off x="638881" y="4501453"/>
            <a:ext cx="10909640" cy="1065836"/>
          </a:xfrm>
        </p:spPr>
        <p:txBody>
          <a:bodyPr vert="horz" lIns="91440" tIns="45720" rIns="91440" bIns="45720" rtlCol="0" anchor="ctr">
            <a:normAutofit/>
          </a:bodyPr>
          <a:lstStyle/>
          <a:p>
            <a:pPr algn="ctr"/>
            <a:r>
              <a:rPr lang="en-US" sz="6600"/>
              <a:t>Original Versus PCA</a:t>
            </a:r>
          </a:p>
        </p:txBody>
      </p:sp>
      <p:pic>
        <p:nvPicPr>
          <p:cNvPr id="4" name="Content Placeholder 3">
            <a:extLst>
              <a:ext uri="{FF2B5EF4-FFF2-40B4-BE49-F238E27FC236}">
                <a16:creationId xmlns:a16="http://schemas.microsoft.com/office/drawing/2014/main" id="{89EF689B-B153-C204-FF7C-08D30B29A674}"/>
              </a:ext>
            </a:extLst>
          </p:cNvPr>
          <p:cNvPicPr>
            <a:picLocks noGrp="1" noChangeAspect="1"/>
          </p:cNvPicPr>
          <p:nvPr>
            <p:ph idx="1"/>
          </p:nvPr>
        </p:nvPicPr>
        <p:blipFill>
          <a:blip r:embed="rId2"/>
          <a:stretch>
            <a:fillRect/>
          </a:stretch>
        </p:blipFill>
        <p:spPr>
          <a:xfrm>
            <a:off x="320040" y="436009"/>
            <a:ext cx="5614416" cy="3663406"/>
          </a:xfrm>
          <a:prstGeom prst="rect">
            <a:avLst/>
          </a:prstGeom>
        </p:spPr>
      </p:pic>
      <p:pic>
        <p:nvPicPr>
          <p:cNvPr id="5" name="Picture 4" descr="A graph of different colored triangles&#10;&#10;AI-generated content may be incorrect.">
            <a:extLst>
              <a:ext uri="{FF2B5EF4-FFF2-40B4-BE49-F238E27FC236}">
                <a16:creationId xmlns:a16="http://schemas.microsoft.com/office/drawing/2014/main" id="{B1240F6D-8765-0989-41B1-8191BE683F16}"/>
              </a:ext>
            </a:extLst>
          </p:cNvPr>
          <p:cNvPicPr>
            <a:picLocks noChangeAspect="1"/>
          </p:cNvPicPr>
          <p:nvPr/>
        </p:nvPicPr>
        <p:blipFill>
          <a:blip r:embed="rId3"/>
          <a:stretch>
            <a:fillRect/>
          </a:stretch>
        </p:blipFill>
        <p:spPr>
          <a:xfrm>
            <a:off x="6254496" y="450045"/>
            <a:ext cx="5614416" cy="3635333"/>
          </a:xfrm>
          <a:prstGeom prst="rect">
            <a:avLst/>
          </a:prstGeom>
        </p:spPr>
      </p:pic>
      <p:sp>
        <p:nvSpPr>
          <p:cNvPr id="17" name="sketch line">
            <a:extLst>
              <a:ext uri="{FF2B5EF4-FFF2-40B4-BE49-F238E27FC236}">
                <a16:creationId xmlns:a16="http://schemas.microsoft.com/office/drawing/2014/main" id="{D6A9C53F-5F90-40A5-8C85-5412D39C8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50080" y="5594358"/>
            <a:ext cx="3291840" cy="18288"/>
          </a:xfrm>
          <a:custGeom>
            <a:avLst/>
            <a:gdLst>
              <a:gd name="csX0" fmla="*/ 0 w 3291840"/>
              <a:gd name="csY0" fmla="*/ 0 h 18288"/>
              <a:gd name="csX1" fmla="*/ 658368 w 3291840"/>
              <a:gd name="csY1" fmla="*/ 0 h 18288"/>
              <a:gd name="csX2" fmla="*/ 1283818 w 3291840"/>
              <a:gd name="csY2" fmla="*/ 0 h 18288"/>
              <a:gd name="csX3" fmla="*/ 1909267 w 3291840"/>
              <a:gd name="csY3" fmla="*/ 0 h 18288"/>
              <a:gd name="csX4" fmla="*/ 2633472 w 3291840"/>
              <a:gd name="csY4" fmla="*/ 0 h 18288"/>
              <a:gd name="csX5" fmla="*/ 3291840 w 3291840"/>
              <a:gd name="csY5" fmla="*/ 0 h 18288"/>
              <a:gd name="csX6" fmla="*/ 3291840 w 3291840"/>
              <a:gd name="csY6" fmla="*/ 18288 h 18288"/>
              <a:gd name="csX7" fmla="*/ 2633472 w 3291840"/>
              <a:gd name="csY7" fmla="*/ 18288 h 18288"/>
              <a:gd name="csX8" fmla="*/ 2073859 w 3291840"/>
              <a:gd name="csY8" fmla="*/ 18288 h 18288"/>
              <a:gd name="csX9" fmla="*/ 1448410 w 3291840"/>
              <a:gd name="csY9" fmla="*/ 18288 h 18288"/>
              <a:gd name="csX10" fmla="*/ 822960 w 3291840"/>
              <a:gd name="csY10" fmla="*/ 18288 h 18288"/>
              <a:gd name="csX11" fmla="*/ 0 w 3291840"/>
              <a:gd name="csY11" fmla="*/ 18288 h 18288"/>
              <a:gd name="csX12" fmla="*/ 0 w 329184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291840" h="18288" fill="none" extrusionOk="0">
                <a:moveTo>
                  <a:pt x="0" y="0"/>
                </a:moveTo>
                <a:cubicBezTo>
                  <a:pt x="173077" y="-20031"/>
                  <a:pt x="443104" y="6424"/>
                  <a:pt x="658368" y="0"/>
                </a:cubicBezTo>
                <a:cubicBezTo>
                  <a:pt x="873632" y="-6424"/>
                  <a:pt x="1034028" y="11764"/>
                  <a:pt x="1283818" y="0"/>
                </a:cubicBezTo>
                <a:cubicBezTo>
                  <a:pt x="1533608" y="-11764"/>
                  <a:pt x="1691227" y="-30112"/>
                  <a:pt x="1909267" y="0"/>
                </a:cubicBezTo>
                <a:cubicBezTo>
                  <a:pt x="2127307" y="30112"/>
                  <a:pt x="2272465" y="-18735"/>
                  <a:pt x="2633472" y="0"/>
                </a:cubicBezTo>
                <a:cubicBezTo>
                  <a:pt x="2994479" y="18735"/>
                  <a:pt x="3023324" y="-32030"/>
                  <a:pt x="3291840" y="0"/>
                </a:cubicBezTo>
                <a:cubicBezTo>
                  <a:pt x="3291406" y="7551"/>
                  <a:pt x="3291373" y="9822"/>
                  <a:pt x="3291840" y="18288"/>
                </a:cubicBezTo>
                <a:cubicBezTo>
                  <a:pt x="3048445" y="38989"/>
                  <a:pt x="2846548" y="-14400"/>
                  <a:pt x="2633472" y="18288"/>
                </a:cubicBezTo>
                <a:cubicBezTo>
                  <a:pt x="2420396" y="50976"/>
                  <a:pt x="2304099" y="6336"/>
                  <a:pt x="2073859" y="18288"/>
                </a:cubicBezTo>
                <a:cubicBezTo>
                  <a:pt x="1843619" y="30240"/>
                  <a:pt x="1706926" y="10778"/>
                  <a:pt x="1448410" y="18288"/>
                </a:cubicBezTo>
                <a:cubicBezTo>
                  <a:pt x="1189894" y="25798"/>
                  <a:pt x="1002278" y="8992"/>
                  <a:pt x="822960" y="18288"/>
                </a:cubicBezTo>
                <a:cubicBezTo>
                  <a:pt x="643642" y="27585"/>
                  <a:pt x="307039" y="38051"/>
                  <a:pt x="0" y="18288"/>
                </a:cubicBezTo>
                <a:cubicBezTo>
                  <a:pt x="60" y="11696"/>
                  <a:pt x="66" y="3758"/>
                  <a:pt x="0" y="0"/>
                </a:cubicBezTo>
                <a:close/>
              </a:path>
              <a:path w="3291840" h="18288" stroke="0" extrusionOk="0">
                <a:moveTo>
                  <a:pt x="0" y="0"/>
                </a:moveTo>
                <a:cubicBezTo>
                  <a:pt x="195850" y="28018"/>
                  <a:pt x="434891" y="17390"/>
                  <a:pt x="592531" y="0"/>
                </a:cubicBezTo>
                <a:cubicBezTo>
                  <a:pt x="750171" y="-17390"/>
                  <a:pt x="1018709" y="32200"/>
                  <a:pt x="1316736" y="0"/>
                </a:cubicBezTo>
                <a:cubicBezTo>
                  <a:pt x="1614763" y="-32200"/>
                  <a:pt x="1696480" y="-11367"/>
                  <a:pt x="1876349" y="0"/>
                </a:cubicBezTo>
                <a:cubicBezTo>
                  <a:pt x="2056218" y="11367"/>
                  <a:pt x="2193364" y="13433"/>
                  <a:pt x="2435962" y="0"/>
                </a:cubicBezTo>
                <a:cubicBezTo>
                  <a:pt x="2678560" y="-13433"/>
                  <a:pt x="3010901" y="-42367"/>
                  <a:pt x="3291840" y="0"/>
                </a:cubicBezTo>
                <a:cubicBezTo>
                  <a:pt x="3291758" y="4406"/>
                  <a:pt x="3291751" y="9982"/>
                  <a:pt x="3291840" y="18288"/>
                </a:cubicBezTo>
                <a:cubicBezTo>
                  <a:pt x="3108993" y="14228"/>
                  <a:pt x="2952658" y="46900"/>
                  <a:pt x="2666390" y="18288"/>
                </a:cubicBezTo>
                <a:cubicBezTo>
                  <a:pt x="2380122" y="-10324"/>
                  <a:pt x="2263855" y="41055"/>
                  <a:pt x="2040941" y="18288"/>
                </a:cubicBezTo>
                <a:cubicBezTo>
                  <a:pt x="1818027" y="-4479"/>
                  <a:pt x="1675097" y="6509"/>
                  <a:pt x="1415491" y="18288"/>
                </a:cubicBezTo>
                <a:cubicBezTo>
                  <a:pt x="1155885" y="30068"/>
                  <a:pt x="852976" y="36210"/>
                  <a:pt x="691286" y="18288"/>
                </a:cubicBezTo>
                <a:cubicBezTo>
                  <a:pt x="529596" y="366"/>
                  <a:pt x="187183" y="13912"/>
                  <a:pt x="0" y="18288"/>
                </a:cubicBezTo>
                <a:cubicBezTo>
                  <a:pt x="189" y="14288"/>
                  <a:pt x="-703" y="374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476001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883AFD-2969-D9AA-D9F5-67B6C7EDC0C9}"/>
              </a:ext>
            </a:extLst>
          </p:cNvPr>
          <p:cNvSpPr>
            <a:spLocks noGrp="1"/>
          </p:cNvSpPr>
          <p:nvPr>
            <p:ph type="title"/>
          </p:nvPr>
        </p:nvSpPr>
        <p:spPr/>
        <p:txBody>
          <a:bodyPr/>
          <a:lstStyle/>
          <a:p>
            <a:r>
              <a:rPr lang="en-US" dirty="0"/>
              <a:t>Best Clustering Option</a:t>
            </a:r>
          </a:p>
        </p:txBody>
      </p:sp>
      <p:sp>
        <p:nvSpPr>
          <p:cNvPr id="3" name="Content Placeholder 2">
            <a:extLst>
              <a:ext uri="{FF2B5EF4-FFF2-40B4-BE49-F238E27FC236}">
                <a16:creationId xmlns:a16="http://schemas.microsoft.com/office/drawing/2014/main" id="{4430B438-90D7-1339-E3BF-94B59A74821C}"/>
              </a:ext>
            </a:extLst>
          </p:cNvPr>
          <p:cNvSpPr>
            <a:spLocks noGrp="1"/>
          </p:cNvSpPr>
          <p:nvPr>
            <p:ph idx="1"/>
          </p:nvPr>
        </p:nvSpPr>
        <p:spPr/>
        <p:txBody>
          <a:bodyPr vert="horz" lIns="91440" tIns="45720" rIns="91440" bIns="45720" rtlCol="0" anchor="t">
            <a:normAutofit/>
          </a:bodyPr>
          <a:lstStyle/>
          <a:p>
            <a:r>
              <a:rPr lang="en-US" dirty="0"/>
              <a:t>From looking at the ARI and the silhouette plots, the better clustering option is the 20D PCA model because the average silhouette score was higher while the ARI was similar to the original model.</a:t>
            </a:r>
            <a:endParaRPr lang="en-US" sz="4900" dirty="0">
              <a:latin typeface="Aptos Display"/>
            </a:endParaRPr>
          </a:p>
        </p:txBody>
      </p:sp>
    </p:spTree>
    <p:extLst>
      <p:ext uri="{BB962C8B-B14F-4D97-AF65-F5344CB8AC3E}">
        <p14:creationId xmlns:p14="http://schemas.microsoft.com/office/powerpoint/2010/main" val="13724791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12</Slides>
  <Notes>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HW 6 CSE 546</vt:lpstr>
      <vt:lpstr>2D PCA</vt:lpstr>
      <vt:lpstr>2D T-SNE</vt:lpstr>
      <vt:lpstr>PCA versus T-SNE</vt:lpstr>
      <vt:lpstr>Original Data Clustering</vt:lpstr>
      <vt:lpstr>Original Data Silhouette plot</vt:lpstr>
      <vt:lpstr>Core and Boundary Points</vt:lpstr>
      <vt:lpstr>20D PCA Clustering</vt:lpstr>
      <vt:lpstr>20D PCA Silhouette Plot</vt:lpstr>
      <vt:lpstr>Rand Index Comparison</vt:lpstr>
      <vt:lpstr>Original Versus PCA</vt:lpstr>
      <vt:lpstr>Best Clustering Option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226</cp:revision>
  <dcterms:created xsi:type="dcterms:W3CDTF">2025-11-13T02:26:49Z</dcterms:created>
  <dcterms:modified xsi:type="dcterms:W3CDTF">2025-11-13T05:21:03Z</dcterms:modified>
</cp:coreProperties>
</file>